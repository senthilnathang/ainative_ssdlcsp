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AI-Native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Threat-Driven SSDLC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</a:rPr>
              <a:t>With Autonomy-Weighted Risk Scoring &amp;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</a:rPr>
              <a:t>Automated Threat-to-Test Transformation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</a:rPr>
              <a:t>A Security Operating System for Autonomous AI Systems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5303520"/>
            <a:ext cx="18288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Closed-Loop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5303520"/>
            <a:ext cx="18288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AI-Native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5303520"/>
            <a:ext cx="18288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Threat-Driven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5303520"/>
            <a:ext cx="18288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Autonomy-Scored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5303520"/>
            <a:ext cx="18288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Self-Improving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Patent Filing Presentation  |  Defensible Invention Narrative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Traditional SSDLC Cannot Secure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Autonomous AI Systems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</a:rPr>
              <a:t>Existing security models assume deterministic software behavior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Non-Deterministic Behavior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Outputs vary per inference — traditional testing assumes repeatable results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4864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Tool Autonomy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Agents invoke external tools with real-world side effects beyond developer control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54864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</a:rPr>
              <a:t>Memory Mutation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Persistent memory enables cross-session contamination and state poisoning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54864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Multi-Turn Reasoning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Complex reasoning chains create emergent attack surfaces invisible to static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11274552" cy="1371600"/>
          </a:xfrm>
          <a:prstGeom prst="rect">
            <a:avLst/>
          </a:prstGeom>
          <a:solidFill>
            <a:srgbClr val="EF4444">
              <a:alpha val="20000"/>
            </a:srgbClr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THE CORE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5321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No existing system dynamically links threat modeling, exploit validation,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autonomy scoring, and CI/CD enforcement in a closed loop.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Closed-Loop Threat-Driven AI Security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</a:rPr>
              <a:t>Core Patent System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280160" cy="1645920"/>
          </a:xfrm>
          <a:prstGeom prst="rect">
            <a:avLst/>
          </a:prstGeom>
          <a:solidFill>
            <a:srgbClr val="94A3B8">
              <a:alpha val="25000"/>
            </a:srgbClr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08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1371600"/>
            <a:ext cx="1280160" cy="1645920"/>
          </a:xfrm>
          <a:prstGeom prst="rect">
            <a:avLst/>
          </a:prstGeom>
          <a:solidFill>
            <a:srgbClr val="A855F7">
              <a:alpha val="25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508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LLM-Based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Reasoning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0" y="19202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1280160" cy="1645920"/>
          </a:xfrm>
          <a:prstGeom prst="rect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08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Structured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Threat Graph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19202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280160" cy="1645920"/>
          </a:xfrm>
          <a:prstGeom prst="rect">
            <a:avLst/>
          </a:prstGeom>
          <a:solidFill>
            <a:srgbClr val="22D3EE">
              <a:alpha val="25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08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Automated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Case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Generation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19202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1280160" cy="1645920"/>
          </a:xfrm>
          <a:prstGeom prst="rect">
            <a:avLst/>
          </a:prstGeom>
          <a:solidFill>
            <a:srgbClr val="22C55E">
              <a:alpha val="2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508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Runtime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Exploitability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06640" y="19202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1371600"/>
            <a:ext cx="1280160" cy="1645920"/>
          </a:xfrm>
          <a:prstGeom prst="rect">
            <a:avLst/>
          </a:prstGeom>
          <a:solidFill>
            <a:srgbClr val="F59E0B">
              <a:alpha val="2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508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Autonomy-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Weighted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Risk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69680" y="19202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560" y="1371600"/>
            <a:ext cx="1280160" cy="1645920"/>
          </a:xfrm>
          <a:prstGeom prst="rect">
            <a:avLst/>
          </a:prstGeom>
          <a:solidFill>
            <a:srgbClr val="EF4444">
              <a:alpha val="2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508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CI/CD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Policy Gate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32720" y="19202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515600" y="1371600"/>
            <a:ext cx="1280160" cy="1645920"/>
          </a:xfrm>
          <a:prstGeom prst="rect">
            <a:avLst/>
          </a:prstGeom>
          <a:solidFill>
            <a:srgbClr val="A855F7">
              <a:alpha val="25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0" y="1508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Learning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Feedback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Loop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291840"/>
            <a:ext cx="11640312" cy="502920"/>
          </a:xfrm>
          <a:prstGeom prst="rect">
            <a:avLst/>
          </a:prstGeom>
          <a:solidFill>
            <a:srgbClr val="A855F7">
              <a:alpha val="2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337560"/>
            <a:ext cx="1164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CONTINUOUS FEEDBACK LOOP: Runtime signals regenerate threat models, rules, and test cases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KEY INNOVATIONS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5486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4805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Threat outputs automatically generate executable dynamic test scenarios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4480560"/>
            <a:ext cx="5486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44805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Runtime exploitability signals modify static analysis rules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120640"/>
            <a:ext cx="5486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120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Adversarial testing results auto-update agent guardrails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5120640"/>
            <a:ext cx="5486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5120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AI Autonomy Index dynamically weights risk computation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943600"/>
            <a:ext cx="11274552" cy="640080"/>
          </a:xfrm>
          <a:prstGeom prst="rect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novelty is in the closed-loop integration logic — not the individual components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PATENT CORE #1: AUTONOMY-WEIGHTED RISK SCORING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Dynamic Risk Computation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for Autonomous AI Systems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10360152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97280" y="150876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TRADITIONAL:  Risk = Impact x Likelihood x Exposure        MISSING: AI Autonomy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X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10725912" cy="914400"/>
          </a:xfrm>
          <a:prstGeom prst="rect">
            <a:avLst/>
          </a:prstGeom>
          <a:solidFill>
            <a:srgbClr val="F59E0B">
              <a:alpha val="30000"/>
            </a:srgbClr>
          </a:solidFill>
          <a:ln w="508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774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Risk = Impact x Likelihood x Exposure x Autonomy Index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Autonomy Index = f(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" y="3886200"/>
            <a:ext cx="21945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Tool Write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Access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480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Can the agent modify external systems?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06040" y="3886200"/>
            <a:ext cx="21945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Irreversible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Action Capability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4480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Can actions be rolled back?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0" y="3886200"/>
            <a:ext cx="21945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Memory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Persistence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4480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Does the agent retain cross-session state?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269480" y="3886200"/>
            <a:ext cx="21945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Human-in-the-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Loop Presence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4480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Is human approval required?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601200" y="3886200"/>
            <a:ext cx="21945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Cross-Agent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Interaction Scope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92640" y="4480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Can it influence other agents?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43000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)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5394960"/>
            <a:ext cx="11274552" cy="548640"/>
          </a:xfrm>
          <a:prstGeom prst="rect">
            <a:avLst/>
          </a:prstGeom>
          <a:solidFill>
            <a:srgbClr val="22D3EE">
              <a:alpha val="2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406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Autonomy increases blast radius even if exploit probability is unchanged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400" y="6126480"/>
            <a:ext cx="10360152" cy="502920"/>
          </a:xfrm>
          <a:prstGeom prst="rect">
            <a:avLst/>
          </a:prstGeom>
          <a:solidFill>
            <a:srgbClr val="22C55E">
              <a:alpha val="2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6172200"/>
            <a:ext cx="999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CLAIMABLE INNOVATION — No current risk model incorporates autonomous agent capability into security scoring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Same Vulnerability, Different Risk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0360152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14300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Vulnerability: Prompt Injection via concatenated user input  |  Same CVSS: 8.1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86400" cy="2926080"/>
          </a:xfrm>
          <a:prstGeom prst="rect">
            <a:avLst/>
          </a:prstGeom>
          <a:solidFill>
            <a:srgbClr val="1E293B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Read-Only Chatbot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Autonomy Level: 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No tool write access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No persistent memory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Human approves all outputs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Single-agent, no cross-system reach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4251960"/>
            <a:ext cx="2743200" cy="457200"/>
          </a:xfrm>
          <a:prstGeom prst="round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RISK: 4.1 — ALLOWED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5352" y="1920240"/>
            <a:ext cx="5486400" cy="2926080"/>
          </a:xfrm>
          <a:prstGeom prst="rect">
            <a:avLst/>
          </a:prstGeom>
          <a:solidFill>
            <a:srgbClr val="1E293B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Database Write Agent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28232" y="2468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Autonomy Level: HIGH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2880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Full database write access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Persistent memory across sessions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8232" y="3520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No human-in-the-loop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28232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Multi-agent communication enabled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16952" y="4251960"/>
            <a:ext cx="2743200" cy="457200"/>
          </a:xfrm>
          <a:prstGeom prst="roundRect">
            <a:avLst/>
          </a:prstGeom>
          <a:solidFill>
            <a:srgbClr val="EF4444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616952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RISK: 9.2 — BLOCKED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11274552" cy="1280160"/>
          </a:xfrm>
          <a:prstGeom prst="rect">
            <a:avLst/>
          </a:prstGeom>
          <a:solidFill>
            <a:srgbClr val="F59E0B">
              <a:alpha val="25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Same vulnerability, same CVSS — fundamentally different real-world risk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Autonomy Index captures what static severity scores cannot — the agent's capacity for irreversible, unsupervised action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2D3EE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PATENT CORE #2: AUTOMATED THREAT-TO-TEST TRANSFORMATION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Automated Threat Vector to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Executable Attack Translation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10360152" cy="548640"/>
          </a:xfrm>
          <a:prstGeom prst="rect">
            <a:avLst/>
          </a:prstGeom>
          <a:solidFill>
            <a:srgbClr val="EF4444">
              <a:alpha val="2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1732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Today: Threat modeling outputs documents — not executable security tests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</a:rPr>
              <a:t>LLM Threat Reasoning Engine Outputs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53035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Attack Path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Full exploitation chain from entry to impact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53035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546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Target Asset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Specific component, endpoint, or agent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3035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03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Required Access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Authentication level and privileges needed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53035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519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Exploit Pattern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Classified attack technique and payload type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2834640"/>
            <a:ext cx="457200" cy="1371600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3200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Auto-Generated Test Outputs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560320"/>
            <a:ext cx="5330952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606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Browser-Based Attack Script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End-to-end UI attack simulation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3108960"/>
            <a:ext cx="5330952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154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LLM Adversarial Test Case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Jailbreak and injection validation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3657600"/>
            <a:ext cx="5330952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703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API Fuzz Scenario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Mutation-based API exploitation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4206240"/>
            <a:ext cx="5330952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2519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Agent Tool Abuse Test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0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Permission escalation validation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A855F7">
              <a:alpha val="25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0060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Threat Vector  →  Structured Graph  →  Test Template  →  Executable Attack  →  Result Feedback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5486400"/>
            <a:ext cx="11274552" cy="1097280"/>
          </a:xfrm>
          <a:prstGeom prst="rect">
            <a:avLst/>
          </a:prstGeom>
          <a:solidFill>
            <a:srgbClr val="22C55E">
              <a:alpha val="15000"/>
            </a:srgbClr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CLAIMABLE INNOVATION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58521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system reasons about threats using LLM intelligence, then automatically generates executable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attack simulations that validate real exploitability — a non-obvious automation beyond existing tooling.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PATENT CORE #3: CLOSED-LOOP SELF-IMPROVING SECURITY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Closed-Loop Self-Improving Security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50876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Incident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65960" y="1280160"/>
            <a:ext cx="150876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3258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Adversarial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Success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0" y="1280160"/>
            <a:ext cx="1508760" cy="1005840"/>
          </a:xfrm>
          <a:prstGeom prst="rect">
            <a:avLst/>
          </a:prstGeom>
          <a:solidFill>
            <a:srgbClr val="F59E0B">
              <a:alpha val="3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3258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Exploit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49240" y="1280160"/>
            <a:ext cx="1508760" cy="1005840"/>
          </a:xfrm>
          <a:prstGeom prst="rect">
            <a:avLst/>
          </a:prstGeom>
          <a:solidFill>
            <a:srgbClr val="22D3EE">
              <a:alpha val="3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3258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Regeneration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0" y="1280160"/>
            <a:ext cx="1508760" cy="1005840"/>
          </a:xfrm>
          <a:prstGeom prst="rect">
            <a:avLst/>
          </a:prstGeom>
          <a:solidFill>
            <a:srgbClr val="3B82F6">
              <a:alpha val="3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3258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Update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4964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32520" y="1280160"/>
            <a:ext cx="1508760" cy="1005840"/>
          </a:xfrm>
          <a:prstGeom prst="rect">
            <a:avLst/>
          </a:prstGeom>
          <a:solidFill>
            <a:srgbClr val="A855F7">
              <a:alpha val="3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13258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Re-score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4128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424160" y="1280160"/>
            <a:ext cx="1508760" cy="1005840"/>
          </a:xfrm>
          <a:prstGeom prst="rect">
            <a:avLst/>
          </a:prstGeom>
          <a:solidFill>
            <a:srgbClr val="22C55E">
              <a:alpha val="3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0" y="13258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Re-test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Automatically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468880"/>
            <a:ext cx="11640312" cy="36576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46888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←  FEEDBACK LOOPS BACK — CONTINUOUS REGENERATION  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solidFill>
            <a:srgbClr val="F59E0B">
              <a:alpha val="25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063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KEY CLAIM: Runtime exploitability updates static analysis rules automatically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37490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Gets Regenerated Automatically: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5486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Static Analysis Rules: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4206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Detection patterns evolve from confirmed runtime exploits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45352" y="4160520"/>
            <a:ext cx="5486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Dynamic Test Scenarios: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88552" y="4206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Attack simulations updated with newly discovered bypass methods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5486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846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Agent Guardrail Constraints: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0" y="4846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Prompt boundaries, tool restrictions, output filters auto-updated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45352" y="4800600"/>
            <a:ext cx="5486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4846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Autonomy Scoring Thresholds: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88552" y="4846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Risk weights recalibrated from real-world incident impact data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5486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CI/CD Policy Gate Thresholds: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0" y="5486400"/>
            <a:ext cx="8257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Blocking and approval thresholds adjusted from enforcement outcomes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6126480"/>
            <a:ext cx="11274552" cy="50292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617220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Full automation — no manual rule updates, no human bottleneck — the loop is the invention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Patent Claims &amp; Differentiation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1188720"/>
          </a:xfrm>
          <a:prstGeom prst="rect">
            <a:avLst/>
          </a:prstGeom>
          <a:solidFill>
            <a:srgbClr val="1E293B"/>
          </a:solidFill>
          <a:ln w="381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1280160" cy="320040"/>
          </a:xfrm>
          <a:prstGeom prst="roundRect">
            <a:avLst/>
          </a:prstGeom>
          <a:solidFill>
            <a:srgbClr val="22D3EE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CLAIM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A Closed-Loop AI-Native SSDLC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 method and system comprising continuous threat modeling, automated security testing, runtime exploit validation, and feedback-driven rule regeneration operating as a unified closed-loop pipeline for securing autonomous AI systems.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74552" cy="1188720"/>
          </a:xfrm>
          <a:prstGeom prst="rect">
            <a:avLst/>
          </a:prstGeom>
          <a:solidFill>
            <a:srgbClr val="1E293B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31720"/>
            <a:ext cx="1280160" cy="320040"/>
          </a:xfrm>
          <a:prstGeom prst="round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CLAIM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An Autonomy-Weighted Dynamic Risk Engine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 computational method for dynamically scoring security risk by incorporating an Autonomy Index — a composite of tool write access, irreversible action capability, memory persistence, human-in-the-loop presence, and cross-agent interaction scope — as a multiplicative risk factor.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1274552" cy="1188720"/>
          </a:xfrm>
          <a:prstGeom prst="rect">
            <a:avLst/>
          </a:prstGeom>
          <a:solidFill>
            <a:srgbClr val="1E293B"/>
          </a:solidFill>
          <a:ln w="38100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657600"/>
            <a:ext cx="1280160" cy="320040"/>
          </a:xfrm>
          <a:prstGeom prst="roundRect">
            <a:avLst/>
          </a:prstGeom>
          <a:solidFill>
            <a:srgbClr val="A855F7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57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CLAIM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3611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Threat-to-Test Automated Transformation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 method comprising: parsing architectural representations, generating structured threat vectors via LLM-based reasoning, translating vectors into executable dynamic test cases (browser attacks, adversarial prompts, API fuzz, agent abuse tests), and updating the threat graph from runtime exploitability signals.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9377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vs. Traditional DevSecOps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303520"/>
            <a:ext cx="3657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330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Static severity scoring  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5605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Autonomy-weighted dynamic scoring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5303520"/>
            <a:ext cx="3657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5330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Manual threat modeling 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0" y="5605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LLM-generated structured threat graph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38160" y="5303520"/>
            <a:ext cx="3657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5330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Post-deployment validation  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5605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Continuous exploitability-driven regeneration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22D3EE">
              <a:alpha val="30000"/>
            </a:srgbClr>
          </a:solidFill>
          <a:ln w="381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172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Filing Strategy: Narrow claims on integration logic — the novelty is the closed-loop architecture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Closed-Loop AI-Native Threat-Driven SSDLC System — Patent Filing</dc:title>
  <dc:subject>Patent Filing Presentation</dc:subject>
  <dc:creator>AI-Native SSDLC Security Platform</dc:creator>
  <cp:lastModifiedBy>AI-Native SSDLC Security Platform</cp:lastModifiedBy>
  <cp:revision>1</cp:revision>
  <dcterms:created xsi:type="dcterms:W3CDTF">2026-02-16T17:50:47Z</dcterms:created>
  <dcterms:modified xsi:type="dcterms:W3CDTF">2026-02-16T17:50:47Z</dcterms:modified>
</cp:coreProperties>
</file>