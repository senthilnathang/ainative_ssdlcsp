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0" y="1371600"/>
            <a:ext cx="914400" cy="914400"/>
          </a:xfrm>
          <a:prstGeom prst="rect">
            <a:avLst/>
          </a:prstGeom>
          <a:solidFill>
            <a:srgbClr val="22D3EE">
              <a:alpha val="20000"/>
            </a:srgbClr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0" y="15544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D3EE"/>
                </a:solidFill>
              </a:rPr>
              <a:t>Shield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0" y="1371600"/>
            <a:ext cx="914400" cy="914400"/>
          </a:xfrm>
          <a:prstGeom prst="rect">
            <a:avLst/>
          </a:prstGeom>
          <a:solidFill>
            <a:srgbClr val="A855F7">
              <a:alpha val="20000"/>
            </a:srgbClr>
          </a:solidFill>
          <a:ln w="25400">
            <a:solidFill>
              <a:srgbClr val="A855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15544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55F7"/>
                </a:solidFill>
              </a:rPr>
              <a:t>Brain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914400" cy="914400"/>
          </a:xfrm>
          <a:prstGeom prst="rect">
            <a:avLst/>
          </a:prstGeom>
          <a:solidFill>
            <a:srgbClr val="3B82F6">
              <a:alpha val="20000"/>
            </a:srgbClr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0" y="15544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82F6"/>
                </a:solidFill>
              </a:rPr>
              <a:t>Lock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406640" y="1371600"/>
            <a:ext cx="914400" cy="914400"/>
          </a:xfrm>
          <a:prstGeom prst="rect">
            <a:avLst/>
          </a:prstGeom>
          <a:solidFill>
            <a:srgbClr val="F59E0B">
              <a:alpha val="20000"/>
            </a:srgbClr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06640" y="15544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Zap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560320"/>
            <a:ext cx="112745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AI-Native Threat-Driven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SSDLC Security Platform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57200" y="402336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BD5E1"/>
                </a:solidFill>
              </a:rPr>
              <a:t>Continuous Security for Code, Cloud, and AI Systems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371600" y="4754880"/>
            <a:ext cx="1463040" cy="411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47548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Threat Modeling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017520" y="4754880"/>
            <a:ext cx="1463040" cy="411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0" y="47548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SAST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4754880"/>
            <a:ext cx="1463040" cy="411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47548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DAST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309360" y="4754880"/>
            <a:ext cx="1463040" cy="411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47548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IAST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955280" y="4754880"/>
            <a:ext cx="1463040" cy="411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0" y="47548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AI Red Teaming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601200" y="4754880"/>
            <a:ext cx="1463040" cy="411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0" y="47548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Learning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59436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Enterprise-Grade Security Operating System for Modern Development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The AI Security Gap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Why traditional SSDLC fails for AI-powered systems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solidFill>
            <a:srgbClr val="1E293B"/>
          </a:solidFill>
          <a:ln w="2540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Traditional SSDLC Blind to AI Threats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132320" y="1783080"/>
            <a:ext cx="1371600" cy="274320"/>
          </a:xfrm>
          <a:prstGeom prst="rect">
            <a:avLst/>
          </a:prstGeom>
          <a:solidFill>
            <a:srgbClr val="EF4444">
              <a:alpha val="2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Critical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Conventional tools miss prompt injection, jailbreaks, agent abuse, and model extraction attacks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solidFill>
            <a:srgbClr val="1E293B"/>
          </a:solidFill>
          <a:ln w="2540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8346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Siloed Security Tools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32320" y="2880360"/>
            <a:ext cx="1371600" cy="274320"/>
          </a:xfrm>
          <a:prstGeom prst="rect">
            <a:avLst/>
          </a:prstGeom>
          <a:solidFill>
            <a:srgbClr val="EF4444">
              <a:alpha val="2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High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246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SAST, DAST, and IAST operate independently without threat-driven coordination or AI context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solidFill>
            <a:srgbClr val="1E293B"/>
          </a:solidFill>
          <a:ln w="2540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9319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Reactive Security Posture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132320" y="3977640"/>
            <a:ext cx="1371600" cy="274320"/>
          </a:xfrm>
          <a:prstGeom prst="rect">
            <a:avLst/>
          </a:prstGeom>
          <a:solidFill>
            <a:srgbClr val="EF4444">
              <a:alpha val="2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High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4343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Security validated only after deployment, with no continuous learning from runtime incidents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5029200"/>
            <a:ext cx="365760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51206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F4444"/>
                </a:solidFill>
              </a:rPr>
              <a:t>73%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57200" y="5852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of AI apps lack security testing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89120" y="5029200"/>
            <a:ext cx="365760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0" y="51206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</a:rPr>
              <a:t>$4.5M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4389120" y="5852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Average AI breach cost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321040" y="5029200"/>
            <a:ext cx="365760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21040" y="51206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A855F7"/>
                </a:solidFill>
              </a:rPr>
              <a:t>45 days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8321040" y="5852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To detect AI vulnerabilities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2D3EE"/>
                </a:solidFill>
              </a:rPr>
              <a:t>Our Vision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A Security Operating System that shifts security left, operates continuously, and evolves with every deployment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5486400" cy="1371600"/>
          </a:xfrm>
          <a:prstGeom prst="rect">
            <a:avLst/>
          </a:prstGeom>
          <a:solidFill>
            <a:srgbClr val="1E293B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0116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Threat-Driven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Security decisions anchored in real threat models, not generic checklists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26480" y="1828800"/>
            <a:ext cx="5486400" cy="1371600"/>
          </a:xfrm>
          <a:prstGeom prst="rect">
            <a:avLst/>
          </a:prstGeom>
          <a:solidFill>
            <a:srgbClr val="1E293B"/>
          </a:solidFill>
          <a:ln w="25400">
            <a:solidFill>
              <a:srgbClr val="A85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20116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AI-Native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309360" y="256032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Purpose-built to secure LLMs, agents, and autonomous AI systems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383280"/>
            <a:ext cx="5486400" cy="1371600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5661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DevSecOps First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0080" y="411480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Seamlessly integrated into CI/CD pipelines with policy gates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3383280"/>
            <a:ext cx="5486400" cy="1371600"/>
          </a:xfrm>
          <a:prstGeom prst="rect">
            <a:avLst/>
          </a:prstGeom>
          <a:solidFill>
            <a:srgbClr val="1E293B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35661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Continuously Learning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09360" y="411480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Self-improving through runtime feedback and adversarial validation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5212080"/>
            <a:ext cx="11274552" cy="1188720"/>
          </a:xfrm>
          <a:prstGeom prst="rect">
            <a:avLst/>
          </a:prstGeom>
          <a:solidFill>
            <a:srgbClr val="22D3EE">
              <a:alpha val="15000"/>
            </a:srgbClr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534924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Not a Scanner. A Security Operating System.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57200" y="585216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Unifying threat modeling, static/dynamic analysis, runtime intelligence, and adversarial testing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End-to-End AI-Native SSDLC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1097280"/>
            <a:ext cx="2194560" cy="1828800"/>
          </a:xfrm>
          <a:prstGeom prst="rect">
            <a:avLst/>
          </a:prstGeom>
          <a:solidFill>
            <a:srgbClr val="A855F7">
              <a:alpha val="20000"/>
            </a:srgbClr>
          </a:solidFill>
          <a:ln w="25400">
            <a:solidFill>
              <a:srgbClr val="A855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14630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DESIGN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192024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Threagile + STRIDEGPT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468880" y="173736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D3EE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651760" y="1097280"/>
            <a:ext cx="2194560" cy="1828800"/>
          </a:xfrm>
          <a:prstGeom prst="rect">
            <a:avLst/>
          </a:prstGeom>
          <a:solidFill>
            <a:srgbClr val="22D3EE">
              <a:alpha val="20000"/>
            </a:srgbClr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11887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651760" y="14630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BUILD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51760" y="192024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CodeSecAI (SAST)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0" y="173736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D3EE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029200" y="1097280"/>
            <a:ext cx="2194560" cy="1828800"/>
          </a:xfrm>
          <a:prstGeom prst="rect">
            <a:avLst/>
          </a:prstGeom>
          <a:solidFill>
            <a:srgbClr val="3B82F6">
              <a:alpha val="20000"/>
            </a:srgbClr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11887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0" y="14630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TEST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0" y="192024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Vue.js + Playwright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223760" y="173736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D3EE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406640" y="1097280"/>
            <a:ext cx="2194560" cy="1828800"/>
          </a:xfrm>
          <a:prstGeom prst="rect">
            <a:avLst/>
          </a:prstGeom>
          <a:solidFill>
            <a:srgbClr val="22C55E">
              <a:alpha val="20000"/>
            </a:srgbClr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06640" y="11887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406640" y="14630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RUNTIME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406640" y="192024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DeVAIC (IAST)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601200" y="173736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D3EE"/>
                </a:solidFill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9784080" y="1097280"/>
            <a:ext cx="2194560" cy="1828800"/>
          </a:xfrm>
          <a:prstGeom prst="rect">
            <a:avLst/>
          </a:prstGeom>
          <a:solidFill>
            <a:srgbClr val="EF4444">
              <a:alpha val="20000"/>
            </a:srgbClr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84080" y="11887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784080" y="14630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ADVERSARIAL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784080" y="192024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Red Teaming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200400"/>
            <a:ext cx="11274552" cy="1280160"/>
          </a:xfrm>
          <a:prstGeom prst="rect">
            <a:avLst/>
          </a:prstGeom>
          <a:solidFill>
            <a:srgbClr val="F59E0B">
              <a:alpha val="25000"/>
            </a:srgbClr>
          </a:solidFill>
          <a:ln w="381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3375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UNIFIED RISK ENGINE &amp; POLICY GATES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57200" y="3749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Risk = Impact × Likelihood × Exposure × AI Autonomy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229600" y="3703320"/>
            <a:ext cx="1097280" cy="457200"/>
          </a:xfrm>
          <a:prstGeom prst="roundRect">
            <a:avLst/>
          </a:prstGeom>
          <a:solidFill>
            <a:srgbClr val="EF4444">
              <a:alpha val="3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0" y="37033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Block Build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9509760" y="3703320"/>
            <a:ext cx="1097280" cy="457200"/>
          </a:xfrm>
          <a:prstGeom prst="roundRect">
            <a:avLst/>
          </a:prstGeom>
          <a:solidFill>
            <a:srgbClr val="F59E0B">
              <a:alpha val="3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9509760" y="37033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Require Approval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0789920" y="3703320"/>
            <a:ext cx="1097280" cy="457200"/>
          </a:xfrm>
          <a:prstGeom prst="roundRect">
            <a:avLst/>
          </a:prstGeom>
          <a:solidFill>
            <a:srgbClr val="22C55E">
              <a:alpha val="3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10789920" y="37033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Auto-Mitigate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57200" y="4754880"/>
            <a:ext cx="11274552" cy="822960"/>
          </a:xfrm>
          <a:prstGeom prst="rect">
            <a:avLst/>
          </a:prstGeom>
          <a:solidFill>
            <a:srgbClr val="A855F7">
              <a:alpha val="20000"/>
            </a:srgbClr>
          </a:solidFill>
          <a:ln w="25400">
            <a:solidFill>
              <a:srgbClr val="A855F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8920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CONTINUOUS LEARNING: Runtime incidents → Red team success → False positives → New patterns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57200" y="58521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CI/CD: Git → Build → Test → Deploy  |  Compliance: OWASP • NIST AI RMF • ISO 27001 • SOC 2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Threat Modeling Core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Threagile + STRIDEGPT — Shift Security Left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55F7"/>
                </a:solidFill>
              </a:rPr>
              <a:t>Inputs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• C4 / Architecture Diagrams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30428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• Data Flow Definitions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68833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• Trust Boundaries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07238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• OpenAPI Specs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45643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• Prompt Templates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8404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• AI Agent Workflows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22452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• Tool Permissions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55F7"/>
                </a:solidFill>
              </a:rPr>
              <a:t>Threat Engines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754880" y="1920240"/>
            <a:ext cx="3474720" cy="1097280"/>
          </a:xfrm>
          <a:prstGeom prst="rect">
            <a:avLst/>
          </a:prstGeom>
          <a:solidFill>
            <a:srgbClr val="A855F7">
              <a:alpha val="25000"/>
            </a:srgbClr>
          </a:solidFill>
          <a:ln w="25400">
            <a:solidFill>
              <a:srgbClr val="A855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0116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Threagile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23317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Architecture risk analysis with automated threat identification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3200400"/>
            <a:ext cx="3474720" cy="1097280"/>
          </a:xfrm>
          <a:prstGeom prst="rect">
            <a:avLst/>
          </a:prstGeom>
          <a:solidFill>
            <a:srgbClr val="3B82F6">
              <a:alpha val="25000"/>
            </a:srgbClr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32918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STRIDEGPT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36118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LLM-powered threat reasoning for AI-specific attacks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503920" y="1463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</a:rPr>
              <a:t>Outputs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503920" y="1920240"/>
            <a:ext cx="3200400" cy="3200400"/>
          </a:xfrm>
          <a:prstGeom prst="rect">
            <a:avLst/>
          </a:prstGeom>
          <a:solidFill>
            <a:srgbClr val="1E293B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0" y="21031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</a:rPr>
              <a:t>Threat Graph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0" y="23774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Visual attack surfaces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686800" y="28346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</a:rPr>
              <a:t>STRIDE Classification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86800" y="31089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S, T, R, I, D, E categories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686800" y="35661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</a:rPr>
              <a:t>AI-Specific Threats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686800" y="38404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Prompt injection, jailbreaks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686800" y="42976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</a:rPr>
              <a:t>Risk-Scored Findings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686800" y="45720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CI/CD-ready reports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5669280"/>
            <a:ext cx="11274552" cy="731520"/>
          </a:xfrm>
          <a:prstGeom prst="rect">
            <a:avLst/>
          </a:prstGeom>
          <a:solidFill>
            <a:srgbClr val="A855F7">
              <a:alpha val="15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580644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Security decisions driven by real threat models, not generic checklists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SAST — CodeSecAI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Static Analysis for Code, AI, and Infrastructure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84048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554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Application Source Code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920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• Injection flaws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2194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• Auth bypass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2468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• Crypto issues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743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• Data leakage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1463040"/>
            <a:ext cx="384048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554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Prompt Templates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09160" y="1920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• Prompt injection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09160" y="2194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• Context leakage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09160" y="2468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• Instruction hijacking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384048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383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Agent Graphs &amp; Tools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" y="3749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• Over-privileged tools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" y="4023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• Unsafe autonomy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" y="4297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• Permission escalation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0" y="3291840"/>
            <a:ext cx="384048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3383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Infrastructure-as-Code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09160" y="3749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• Misconfigurations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09160" y="4023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• Exposed secrets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09160" y="4297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• IAM violations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503920" y="1463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Key Capabilities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503920" y="19202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</a:rPr>
              <a:t>✓ Threat-model-driven rules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503920" y="22860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</a:rPr>
              <a:t>✓ Cross-file analysis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503920" y="2651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</a:rPr>
              <a:t>✓ AI-aware detection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503920" y="3017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</a:rPr>
              <a:t>✓ Semantic understanding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503920" y="3383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</a:rPr>
              <a:t>✓ CI/CD integration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5120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Example Findings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57200" y="5486400"/>
            <a:ext cx="5486400" cy="914400"/>
          </a:xfrm>
          <a:prstGeom prst="rect">
            <a:avLst/>
          </a:prstGeom>
          <a:solidFill>
            <a:srgbClr val="1E293B"/>
          </a:solidFill>
          <a:ln w="38100">
            <a:solidFill>
              <a:srgbClr val="EF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55778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CRITICAL: Prompt Injection in Agent Tool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" y="58978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User input directly concatenated into system prompt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17920" y="5486400"/>
            <a:ext cx="5486400" cy="914400"/>
          </a:xfrm>
          <a:prstGeom prst="rect">
            <a:avLst/>
          </a:prstGeom>
          <a:solidFill>
            <a:srgbClr val="1E293B"/>
          </a:solidFill>
          <a:ln w="381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0" y="55778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HIGH: Over-Privileged Agent Tool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0" y="58978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Agent has write access to production database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DAST — Vue.js + Playwright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Dynamic Application Security Testing with Real Attacks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</a:rPr>
              <a:t>Testing Capabilities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54864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659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Full UI Workflow Testing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End-to-end user journey simulation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54864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7889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Business Logic Abuse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063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Logic flaws, race conditions, bypasses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566160"/>
            <a:ext cx="54864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6118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API Fuzzing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8862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Intelligent mutation to discover edge cases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4389120"/>
            <a:ext cx="54864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4348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Auth &amp; Authorization Bypass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7091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Privilege escalation validation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17920" y="1463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</a:rPr>
              <a:t>AI-Specific Attack Scenarios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217920" y="1920240"/>
            <a:ext cx="54864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2011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Prompt Injection via UI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332720" y="2057400"/>
            <a:ext cx="1097280" cy="228600"/>
          </a:xfrm>
          <a:prstGeom prst="rect">
            <a:avLst/>
          </a:prstGeom>
          <a:solidFill>
            <a:srgbClr val="EF4444">
              <a:alpha val="2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</a:rPr>
              <a:t>Critical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217920" y="2743200"/>
            <a:ext cx="54864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2834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Tool Invocation Manipulation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332720" y="2880360"/>
            <a:ext cx="1097280" cy="228600"/>
          </a:xfrm>
          <a:prstGeom prst="rect">
            <a:avLst/>
          </a:prstGeom>
          <a:solidFill>
            <a:srgbClr val="F59E0B">
              <a:alpha val="2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</a:rPr>
              <a:t>High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17920" y="3566160"/>
            <a:ext cx="54864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3657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Context Window Overflow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332720" y="3703320"/>
            <a:ext cx="1097280" cy="228600"/>
          </a:xfrm>
          <a:prstGeom prst="rect">
            <a:avLst/>
          </a:prstGeom>
          <a:solidFill>
            <a:srgbClr val="F59E0B">
              <a:alpha val="2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</a:rPr>
              <a:t>High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217920" y="4389120"/>
            <a:ext cx="54864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4480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Multi-Turn Jailbreaks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332720" y="4526280"/>
            <a:ext cx="1097280" cy="228600"/>
          </a:xfrm>
          <a:prstGeom prst="rect">
            <a:avLst/>
          </a:prstGeom>
          <a:solidFill>
            <a:srgbClr val="EF4444">
              <a:alpha val="2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</a:rPr>
              <a:t>Critical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5303520"/>
            <a:ext cx="11274552" cy="1097280"/>
          </a:xfrm>
          <a:prstGeom prst="rect">
            <a:avLst/>
          </a:prstGeom>
          <a:solidFill>
            <a:srgbClr val="3B82F6">
              <a:alpha val="20000"/>
            </a:srgbClr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5440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Threat-Driven Test Generation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DAST scenarios auto-generated from STRIDEGPT threat outputs — every test validates a real threat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IAST — DeVAIC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Runtime Intelligence &amp; Instrumentation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</a:rPr>
              <a:t>Instrumentation Points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• Prompt → Model → Tool Flows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• Agent Decision Paths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• Memory Access &amp; Mutation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154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• Sensitive Data Propagation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0" y="1463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</a:rPr>
              <a:t>Runtime Detection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17920" y="1874520"/>
            <a:ext cx="5486400" cy="411480"/>
          </a:xfrm>
          <a:prstGeom prst="rect">
            <a:avLst/>
          </a:prstGeom>
          <a:solidFill>
            <a:srgbClr val="1E293B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920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Runtime Exploitability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15600" y="1965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</a:rPr>
              <a:t>Critical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17920" y="2377440"/>
            <a:ext cx="5486400" cy="411480"/>
          </a:xfrm>
          <a:prstGeom prst="rect">
            <a:avLst/>
          </a:prstGeom>
          <a:solidFill>
            <a:srgbClr val="1E293B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2423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Leakage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15600" y="24688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</a:rPr>
              <a:t>Critical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17920" y="2880360"/>
            <a:ext cx="5486400" cy="411480"/>
          </a:xfrm>
          <a:prstGeom prst="rect">
            <a:avLst/>
          </a:prstGeom>
          <a:solidFill>
            <a:srgbClr val="1E293B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2926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Cross-Agent Contamination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515600" y="29718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</a:rPr>
              <a:t>High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17920" y="3383280"/>
            <a:ext cx="5486400" cy="411480"/>
          </a:xfrm>
          <a:prstGeom prst="rect">
            <a:avLst/>
          </a:prstGeom>
          <a:solidFill>
            <a:srgbClr val="1E293B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3429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Unsafe Autonomous Actions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515600" y="34747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</a:rPr>
              <a:t>Critical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217920" y="3886200"/>
            <a:ext cx="5486400" cy="411480"/>
          </a:xfrm>
          <a:prstGeom prst="rect">
            <a:avLst/>
          </a:prstGeom>
          <a:solidFill>
            <a:srgbClr val="1E293B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3931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Prompt Injection Success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515600" y="39776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</a:rPr>
              <a:t>Critical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17920" y="4389120"/>
            <a:ext cx="5486400" cy="411480"/>
          </a:xfrm>
          <a:prstGeom prst="rect">
            <a:avLst/>
          </a:prstGeom>
          <a:solidFill>
            <a:srgbClr val="1E293B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4434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Guardrail Bypass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515600" y="44805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</a:rPr>
              <a:t>High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3840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</a:rPr>
              <a:t>Real-Time Response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57200" y="4297680"/>
            <a:ext cx="822960" cy="365760"/>
          </a:xfrm>
          <a:prstGeom prst="roundRect">
            <a:avLst/>
          </a:prstGeom>
          <a:solidFill>
            <a:srgbClr val="EF4444">
              <a:alpha val="3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29768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Block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371600" y="4343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Halt dangerous operations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377440" y="4297680"/>
            <a:ext cx="822960" cy="365760"/>
          </a:xfrm>
          <a:prstGeom prst="roundRect">
            <a:avLst/>
          </a:prstGeom>
          <a:solidFill>
            <a:srgbClr val="F59E0B">
              <a:alpha val="3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2377440" y="429768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Alert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291840" y="4343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Notify security teams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297680" y="4297680"/>
            <a:ext cx="822960" cy="365760"/>
          </a:xfrm>
          <a:prstGeom prst="roundRect">
            <a:avLst/>
          </a:prstGeom>
          <a:solidFill>
            <a:srgbClr val="22C55E">
              <a:alpha val="3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4297680" y="429768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Log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212080" y="4343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Capture evidence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5029200"/>
            <a:ext cx="11274552" cy="731520"/>
          </a:xfrm>
          <a:prstGeom prst="rect">
            <a:avLst/>
          </a:prstGeom>
          <a:solidFill>
            <a:srgbClr val="22C55E">
              <a:alpha val="15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516636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See what static analysis misses — validate exploitability in real production conditions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AI Red Teaming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Adversarial Validation &amp; Continuous Attack Simulation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1274552" cy="822960"/>
          </a:xfrm>
          <a:prstGeom prst="rect">
            <a:avLst/>
          </a:prstGeom>
          <a:solidFill>
            <a:srgbClr val="EF4444">
              <a:alpha val="25000"/>
            </a:srgbClr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002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Adversarial Attack Layer — Continuous red team probing for weaknesses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3657600" cy="1188720"/>
          </a:xfrm>
          <a:prstGeom prst="rect">
            <a:avLst/>
          </a:prstGeom>
          <a:solidFill>
            <a:srgbClr val="1E293B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560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Promptfoo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9718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Prompt regression testing, jailbreak validation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2468880"/>
            <a:ext cx="3657600" cy="1188720"/>
          </a:xfrm>
          <a:prstGeom prst="rect">
            <a:avLst/>
          </a:prstGeom>
          <a:solidFill>
            <a:srgbClr val="1E293B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2560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Garak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80560" y="29718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Model vulnerability scanner for LLM weaknesses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2468880"/>
            <a:ext cx="3657600" cy="1188720"/>
          </a:xfrm>
          <a:prstGeom prst="rect">
            <a:avLst/>
          </a:prstGeom>
          <a:solidFill>
            <a:srgbClr val="1E293B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2560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Giskard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21040" y="29718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Comprehensive AI quality and security validation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840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Attack Categories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4206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Prompt Attacks: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Direct/indirect injection, context manipulation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09360" y="4206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Model Exploitation: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138160" y="42062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Jailbreaking, model extraction, backdoors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709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Agent Attacks: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286000" y="47091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Tool abuse, permission escalation, memory poisoning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09360" y="4709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Data &amp; Privacy: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138160" y="47091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PII extraction, training data leakage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5486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4444"/>
                </a:solidFill>
              </a:rPr>
              <a:t>24/7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457200" y="5943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Continuous testing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83280" y="5486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4444"/>
                </a:solidFill>
              </a:rPr>
              <a:t>1000+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3383280" y="5943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Attack scenarios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09360" y="5486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4444"/>
                </a:solidFill>
              </a:rPr>
              <a:t>&lt;60s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6309360" y="5943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Detection time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235440" y="5486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4444"/>
                </a:solidFill>
              </a:rPr>
              <a:t>100%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9235440" y="5943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Coverage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Unified Risk Engine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Business-Driven Security Decisions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74552" cy="1005840"/>
          </a:xfrm>
          <a:prstGeom prst="rect">
            <a:avLst/>
          </a:prstGeom>
          <a:solidFill>
            <a:srgbClr val="F59E0B">
              <a:alpha val="25000"/>
            </a:srgbClr>
          </a:solidFill>
          <a:ln w="381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002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Risk = Impact × Likelihood × Exposure × AI Autonomy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2560320"/>
            <a:ext cx="274320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6517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Impact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971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Business &amp; data impact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32918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• Data sensitivity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354787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• System criticality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3803904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• Compliance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83280" y="2560320"/>
            <a:ext cx="274320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26517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Likelihood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74720" y="2971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Exploitation probability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74720" y="32918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• Attack complexity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74720" y="354787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• Exploit availability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74720" y="3803904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• Auth required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309360" y="2560320"/>
            <a:ext cx="274320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26517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Exposure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0" y="2971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Attack surface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0" y="32918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• Internet-facing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0" y="354787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• User access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0" y="3803904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• API exposure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235440" y="2560320"/>
            <a:ext cx="274320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26880" y="26517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Autonomy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326880" y="2971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Autonomous decisions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326880" y="32918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• Tool permissions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326880" y="354787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• Human-in-loop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326880" y="3803904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• Action scope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42976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Automated Policy Gates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57200" y="4663440"/>
            <a:ext cx="2743200" cy="822960"/>
          </a:xfrm>
          <a:prstGeom prst="rect">
            <a:avLst/>
          </a:prstGeom>
          <a:solidFill>
            <a:srgbClr val="EF4444">
              <a:alpha val="2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754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Block Build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5074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Risk &gt; 9.0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383280" y="4663440"/>
            <a:ext cx="2743200" cy="822960"/>
          </a:xfrm>
          <a:prstGeom prst="rect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83280" y="4754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Require Approval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383280" y="5074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Risk 7.0-9.0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309360" y="4663440"/>
            <a:ext cx="2743200" cy="822960"/>
          </a:xfrm>
          <a:prstGeom prst="rect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9360" y="4754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Auto-Mitigate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309360" y="5074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Risk 4.0-7.0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235440" y="4663440"/>
            <a:ext cx="2743200" cy="822960"/>
          </a:xfrm>
          <a:prstGeom prst="rect">
            <a:avLst/>
          </a:prstGeom>
          <a:solidFill>
            <a:srgbClr val="22C55E">
              <a:alpha val="25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235440" y="4754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Accept Risk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235440" y="5074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Risk &lt; 4.0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7200" y="57607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</a:rPr>
              <a:t>Example: Critical prompt injection + high autonomy = Risk 9.2 = BLOCKED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A855F7"/>
                </a:solidFill>
              </a:rPr>
              <a:t>Continuous Learning Loop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91440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Self-improving security that learns from every incident, attack, and false positive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74320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Runtime Incidents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• Successful attacks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21671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• Blocked attempts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245973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• Anomalies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83280" y="1463040"/>
            <a:ext cx="274320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5544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Red Team Success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0" y="18745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• New jailbreaks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474720" y="21671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• Bypass techniques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74720" y="245973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• Attack patterns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309360" y="1463040"/>
            <a:ext cx="274320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5544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False Positives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0" y="18745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• Developer feedback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0" y="21671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• Suppression patterns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0" y="245973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• Noise reduction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235440" y="1463040"/>
            <a:ext cx="274320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0" y="15544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Threat Intel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326880" y="18745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• CVE updates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326880" y="21671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• OWASP advisories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326880" y="245973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• Zero-days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937760" y="3017520"/>
            <a:ext cx="2286000" cy="914400"/>
          </a:xfrm>
          <a:prstGeom prst="ellipse">
            <a:avLst/>
          </a:prstGeom>
          <a:solidFill>
            <a:srgbClr val="A855F7">
              <a:alpha val="50000"/>
            </a:srgbClr>
          </a:solidFill>
          <a:ln w="25400">
            <a:solidFill>
              <a:srgbClr val="A855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32004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Learning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Engine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" y="4114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What Gets Updated Automatically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57200" y="4526280"/>
            <a:ext cx="2743200" cy="411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5262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55F7"/>
                </a:solidFill>
              </a:rPr>
              <a:t>STRIDEGPT Reasoning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383280" y="4526280"/>
            <a:ext cx="2743200" cy="411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3280" y="45262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</a:rPr>
              <a:t>CodeSecAI Rules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09360" y="4526280"/>
            <a:ext cx="2743200" cy="411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45262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DeVAIC Detection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235440" y="4526280"/>
            <a:ext cx="2743200" cy="411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235440" y="45262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Agent Guardrails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5212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855F7"/>
                </a:solidFill>
              </a:rPr>
              <a:t>-67%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457200" y="5669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False positive rate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383280" y="5212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D3EE"/>
                </a:solidFill>
              </a:rPr>
              <a:t>+42%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3383280" y="5669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New threat detection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309360" y="5212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C55E"/>
                </a:solidFill>
              </a:rPr>
              <a:t>89%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6309360" y="5669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Auto-remediation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235440" y="5212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3hrs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9235440" y="5669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Time to protection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Governance &amp; Compliance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Audit-Ready by Design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6576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463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OWASP ASVS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017520" y="14630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94%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v4.0.3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97680" y="1371600"/>
            <a:ext cx="36576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34840" y="1463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OWASP LLM Top 10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0" y="14630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100%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434840" y="18288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v1.1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38160" y="1371600"/>
            <a:ext cx="36576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75320" y="1463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NIST AI RMF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698480" y="14630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87%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75320" y="18288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v1.0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468880"/>
            <a:ext cx="36576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560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ISO 27001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017520" y="25603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91%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94360" y="29260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2022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97680" y="2468880"/>
            <a:ext cx="36576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34840" y="2560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SOC 2 Type II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0" y="25603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96%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434840" y="29260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Trust Services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138160" y="2468880"/>
            <a:ext cx="36576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75320" y="2560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PCI DSS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698480" y="25603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89%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275320" y="29260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v4.0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657600"/>
            <a:ext cx="5486400" cy="1280160"/>
          </a:xfrm>
          <a:prstGeom prst="rect">
            <a:avLst/>
          </a:prstGeom>
          <a:solidFill>
            <a:srgbClr val="3B82F6">
              <a:alpha val="1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7490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Policy as Code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0080" y="411480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• Version-controlled policies in Git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• Automated enforcement at every stage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• Tracked exception management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17920" y="3657600"/>
            <a:ext cx="5486400" cy="1280160"/>
          </a:xfrm>
          <a:prstGeom prst="rect">
            <a:avLst/>
          </a:prstGeom>
          <a:solidFill>
            <a:srgbClr val="A855F7">
              <a:alpha val="15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37490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Audit Trails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00800" y="411480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• Complete evidence chain logged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• One-click compliance reports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• Full traceability commit to deploy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5120640"/>
            <a:ext cx="2743200" cy="1005840"/>
          </a:xfrm>
          <a:prstGeom prst="rect">
            <a:avLst/>
          </a:prstGeom>
          <a:solidFill>
            <a:srgbClr val="22C55E">
              <a:alpha val="15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5212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</a:rPr>
              <a:t>98.7%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457200" y="5669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Security Score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383280" y="5120640"/>
            <a:ext cx="2743200" cy="1005840"/>
          </a:xfrm>
          <a:prstGeom prst="rect">
            <a:avLst/>
          </a:prstGeom>
          <a:solidFill>
            <a:srgbClr val="3B82F6">
              <a:alpha val="1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83280" y="5212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</a:rPr>
              <a:t>12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3383280" y="5669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Critical Issues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309360" y="5120640"/>
            <a:ext cx="2743200" cy="1005840"/>
          </a:xfrm>
          <a:prstGeom prst="rect">
            <a:avLst/>
          </a:prstGeom>
          <a:solidFill>
            <a:srgbClr val="A855F7">
              <a:alpha val="15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09360" y="5212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855F7"/>
                </a:solidFill>
              </a:rPr>
              <a:t>4.2hrs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6309360" y="5669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Mean Time to Fix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9235440" y="5120640"/>
            <a:ext cx="2743200" cy="1005840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235440" y="5212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100%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9235440" y="5669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Compliance Rate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Value Proposition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Secure AI at Scale — From Development to Production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657600" cy="1280160"/>
          </a:xfrm>
          <a:prstGeom prst="rect">
            <a:avLst/>
          </a:prstGeom>
          <a:solidFill>
            <a:srgbClr val="22C55E">
              <a:alpha val="25000"/>
            </a:srgbClr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C55E"/>
                </a:solidFill>
              </a:rPr>
              <a:t>73%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Cost Reduction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Lower remediation costs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1280160"/>
            <a:ext cx="3657600" cy="1280160"/>
          </a:xfrm>
          <a:prstGeom prst="rect">
            <a:avLst/>
          </a:prstGeom>
          <a:solidFill>
            <a:srgbClr val="3B82F6">
              <a:alpha val="25000"/>
            </a:srgbClr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0" y="13716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</a:rPr>
              <a:t>5x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297680" y="1965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Time to Market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97680" y="2240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Faster secure deployments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1280160"/>
            <a:ext cx="3657600" cy="1280160"/>
          </a:xfrm>
          <a:prstGeom prst="rect">
            <a:avLst/>
          </a:prstGeom>
          <a:solidFill>
            <a:srgbClr val="A855F7">
              <a:alpha val="25000"/>
            </a:srgbClr>
          </a:solidFill>
          <a:ln w="25400">
            <a:solidFill>
              <a:srgbClr val="A855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38160" y="13716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A855F7"/>
                </a:solidFill>
              </a:rPr>
              <a:t>91%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8138160" y="1965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Risk Reduction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38160" y="2240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Fewer critical vulnerabilities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743200"/>
            <a:ext cx="11274552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8346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Typical Enterprise ROI (500+ Developers)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31546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</a:rPr>
              <a:t>$2.3M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" y="338328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Before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566160" y="31546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$680K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566160" y="338328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Platform Cost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400800" y="31546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</a:rPr>
              <a:t>$1.6M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0" y="338328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Annual Savings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9235440" y="31546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</a:rPr>
              <a:t>5.2 mo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235440" y="338328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Payback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57200" y="374904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What Makes This Different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57200" y="4114800"/>
            <a:ext cx="5486400" cy="1280160"/>
          </a:xfrm>
          <a:prstGeom prst="rect">
            <a:avLst/>
          </a:prstGeom>
          <a:solidFill>
            <a:srgbClr val="1E293B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Traditional SSDLC Tools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4480560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• Point solutions in silos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• Generic rules, high false positives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• Blind to AI-specific threats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• Manual processes, reactive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4114800"/>
            <a:ext cx="5486400" cy="1280160"/>
          </a:xfrm>
          <a:prstGeom prst="rect">
            <a:avLst/>
          </a:prstGeom>
          <a:solidFill>
            <a:srgbClr val="1E293B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AI-Native Security Platform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00800" y="4480560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• Unified platform, shared intelligence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• Threat-driven, context-aware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• Purpose-built for LLMs &amp; agents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• Automated, continuously learning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5577840"/>
            <a:ext cx="11274552" cy="914400"/>
          </a:xfrm>
          <a:prstGeom prst="rect">
            <a:avLst/>
          </a:prstGeom>
          <a:solidFill>
            <a:srgbClr val="22D3EE">
              <a:alpha val="25000"/>
            </a:srgbClr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566928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Not a Scanner. A Security Operating System.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457200" y="608076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D3EE"/>
                </a:solidFill>
              </a:rPr>
              <a:t>AI-Native  •  Threat-Driven  •  Continuously Learning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AI-Native Threat-Driven SSDLC Security Platform</dc:title>
  <dc:subject>Security Platform Presentation</dc:subject>
  <dc:creator>AI-Native SSDLC Security Platform</dc:creator>
  <cp:lastModifiedBy>AI-Native SSDLC Security Platform</cp:lastModifiedBy>
  <cp:revision>1</cp:revision>
  <dcterms:created xsi:type="dcterms:W3CDTF">2026-01-26T17:46:35Z</dcterms:created>
  <dcterms:modified xsi:type="dcterms:W3CDTF">2026-01-26T17:46:35Z</dcterms:modified>
</cp:coreProperties>
</file>